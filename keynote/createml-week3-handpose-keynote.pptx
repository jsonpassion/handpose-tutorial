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이미지 분류 (픽셀 학습)</c:v>
                </c:pt>
              </c:strCache>
            </c:strRef>
          </c:tx>
          <c:spPr>
            <a:solidFill>
              <a:srgbClr val="8B94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4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초록 스튜디오</c:v>
                  </c:pt>
                  <c:pt idx="1">
                    <c:v>처음 보는 카페</c:v>
                  </c:pt>
                  <c:pt idx="2">
                    <c:v>어두운 무대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61</c:v>
                </c:pt>
                <c:pt idx="2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포즈 분류 (관절 학습)</c:v>
                </c:pt>
              </c:strCache>
            </c:strRef>
          </c:tx>
          <c:spPr>
            <a:solidFill>
              <a:srgbClr val="F051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4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초록 스튜디오</c:v>
                  </c:pt>
                  <c:pt idx="1">
                    <c:v>처음 보는 카페</c:v>
                  </c:pt>
                  <c:pt idx="2">
                    <c:v>어두운 무대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</c:v>
                </c:pt>
                <c:pt idx="1">
                  <c:v>96</c:v>
                </c:pt>
                <c:pt idx="2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B64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7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47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(카메라 데모를 먼저 켜 둔 상태로 시작해도 좋음) 오늘 30분 안에: 원리 15분, 여러분이 직접 만드는 핸즈온 12분, 팀 미션 3분. 슬라이드보다 데모가 많은 세션입니다.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타임박스 공유. 핸즈온이 메인이라는 것을 미리 알려 긴장감 조성 — 'Mac 준비되셨죠?'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훅: '오늘 워치 더블탭 써보신 분?' 손들게 하기. 이걸 오늘 여러분이 직접 만든다는 선언으로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문장: '입력이 6만에서 42로 줄면 필요한 데이터도 그만큼 준다.' 손 21개 관절 = 손목 1 + 손가락 5×4. 몸은 19개.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부담 낮추기: 새로 배울 것은 한 칸뿐. Vision 관절 추출은 호출만 하면 된다는 점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비유 한 번에 끝내기. 셋 중 '배경과 무관'이 핸즈온에서 직접 확인할 포인트라고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정직하게: 실측이 아니라 원리를 보여주는 개념 수치. 핸즈온에서 초록 배경 데이터로 학습해 무대에서 검증하며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퀴즈로 진행: '손 흔들며 인사는?' → 영상. '브이는?' → 사진. 몸에는 사진-포즈 템플릿이 없다는 비대칭 언급 (몸은 영상이 기본 경로).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라이브: 무대에서 스쿼트 5개 — 반복 카운팅 샘플 앱 데모. 시간 없으면 영상으로 대체.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'여러분 폰의 연속촬영이면 클래스당 100장은 5분' — 셀프 수집이 사실 최강의 데이터라는 것. background 클래스는 핸즈온 트러블슈팅에서 재등장.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 관리: 학습이 늦으면 미리 학습해 둔 백업 .mlproj로 즉시 전환. 연속성 카메라는 세션 전 리허설 필수. 학습이 도는 동안 폴더 구조와 background 클래스 설명으로 시간 흡수.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에어드롭 배포 + 진행 확인. 짝 프로그래밍 허용(Mac 없는 사람은 옆자리와). 웹 튜토리얼 링크·QR도 이 시점에 공유.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미러링으로 같이 진행. 손 든 사람 확인 후 다음 단계로. background는 오늘 기본 데이터엔 없음 — 시간 남는 사람의 실험 과제로.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도는 5분이 세션의 여유 구간 — 질문 받기 좋은 타이밍. 완료된 사람은 Preview로 먼저 이동시키기.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번째가 사실 오늘의 심화 개념(거절할 줄 아는 모델). 시간이 되면 여기서 1분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코드를 다 읽지 말 것 — '관절 뽑고, 모델에 넣고, 확신 없으면 침묵' 세 문장으로 요약. 자세한 건 웹 튜토리얼 6장.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변형·창작 환영. '데이터 경로 없는 아이디어는 아이디어가 아니다' — 웹 튜토리얼의 아이디어 카드에 데이터 경로가 전부 붙어 있음을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 30초. 다음 주 팀 시연 예고로 마무리. 시간이 남으면 질문 1-2개.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0322" y="4550054"/>
            <a:ext cx="659740" cy="49057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994" y="4144061"/>
            <a:ext cx="338328" cy="405994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8998" y="3771900"/>
            <a:ext cx="202997" cy="372161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03666" y="3450488"/>
            <a:ext cx="135331" cy="32141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32570" y="3399739"/>
            <a:ext cx="507492" cy="1640891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14155" y="2892247"/>
            <a:ext cx="118415" cy="50749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6490" y="2503170"/>
            <a:ext cx="67666" cy="389077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5740" y="2147926"/>
            <a:ext cx="50749" cy="355244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55480" y="3264408"/>
            <a:ext cx="84582" cy="177622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21647" y="2689250"/>
            <a:ext cx="33833" cy="57515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4731" y="2266340"/>
            <a:ext cx="16916" cy="422910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7814" y="1877263"/>
            <a:ext cx="16916" cy="389077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640062" y="3332074"/>
            <a:ext cx="321412" cy="170855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961474" y="2790749"/>
            <a:ext cx="50749" cy="541325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012223" y="2384755"/>
            <a:ext cx="33833" cy="405994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046056" y="2029511"/>
            <a:ext cx="33833" cy="355244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640062" y="3535070"/>
            <a:ext cx="693572" cy="1505560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333634" y="3112160"/>
            <a:ext cx="118415" cy="422910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452049" y="2773832"/>
            <a:ext cx="67666" cy="33832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0519715" y="2469337"/>
            <a:ext cx="50749" cy="304495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71482" y="4972050"/>
            <a:ext cx="137160" cy="13716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Shape 21"/>
          <p:cNvSpPr/>
          <p:nvPr/>
        </p:nvSpPr>
        <p:spPr>
          <a:xfrm>
            <a:off x="8930030" y="449976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4" name="Shape 22"/>
          <p:cNvSpPr/>
          <p:nvPr/>
        </p:nvSpPr>
        <p:spPr>
          <a:xfrm>
            <a:off x="8591702" y="4093769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8706" y="372160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Shape 24"/>
          <p:cNvSpPr/>
          <p:nvPr/>
        </p:nvSpPr>
        <p:spPr>
          <a:xfrm>
            <a:off x="8253374" y="340019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7" name="Shape 25"/>
          <p:cNvSpPr/>
          <p:nvPr/>
        </p:nvSpPr>
        <p:spPr>
          <a:xfrm>
            <a:off x="9082278" y="3349447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8" name="Shape 26"/>
          <p:cNvSpPr/>
          <p:nvPr/>
        </p:nvSpPr>
        <p:spPr>
          <a:xfrm>
            <a:off x="8963863" y="2841955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9" name="Shape 27"/>
          <p:cNvSpPr/>
          <p:nvPr/>
        </p:nvSpPr>
        <p:spPr>
          <a:xfrm>
            <a:off x="8896198" y="245287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0" name="Shape 28"/>
          <p:cNvSpPr/>
          <p:nvPr/>
        </p:nvSpPr>
        <p:spPr>
          <a:xfrm>
            <a:off x="8845448" y="2097634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1" name="Shape 29"/>
          <p:cNvSpPr/>
          <p:nvPr/>
        </p:nvSpPr>
        <p:spPr>
          <a:xfrm>
            <a:off x="9505188" y="321411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2" name="Shape 30"/>
          <p:cNvSpPr/>
          <p:nvPr/>
        </p:nvSpPr>
        <p:spPr>
          <a:xfrm>
            <a:off x="9471355" y="263895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3" name="Shape 31"/>
          <p:cNvSpPr/>
          <p:nvPr/>
        </p:nvSpPr>
        <p:spPr>
          <a:xfrm>
            <a:off x="9454439" y="221604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4" name="Shape 32"/>
          <p:cNvSpPr/>
          <p:nvPr/>
        </p:nvSpPr>
        <p:spPr>
          <a:xfrm>
            <a:off x="9437522" y="1826971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911182" y="328178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6" name="Shape 34"/>
          <p:cNvSpPr/>
          <p:nvPr/>
        </p:nvSpPr>
        <p:spPr>
          <a:xfrm>
            <a:off x="9961931" y="2740457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7" name="Shape 35"/>
          <p:cNvSpPr/>
          <p:nvPr/>
        </p:nvSpPr>
        <p:spPr>
          <a:xfrm>
            <a:off x="9995764" y="2334463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29596" y="1979219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83342" y="348477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01757" y="306186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69423" y="272354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20172" y="2419045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세션 · 2026.07.23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4360" y="182880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픽셀이 아니라
</a:t>
            </a:r>
            <a:pPr indent="0" marL="0">
              <a:lnSpc>
                <a:spcPts val="5800"/>
              </a:lnSpc>
              <a:buNone/>
            </a:pPr>
            <a:r>
              <a:rPr lang="en-US" sz="47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관절</a:t>
            </a:r>
            <a:pPr indent="0" marL="0">
              <a:lnSpc>
                <a:spcPts val="58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학습한다</a:t>
            </a:r>
            <a:endParaRPr lang="en-US" sz="4700" dirty="0"/>
          </a:p>
        </p:txBody>
      </p:sp>
      <p:sp>
        <p:nvSpPr>
          <p:cNvPr id="45" name="Text 43"/>
          <p:cNvSpPr/>
          <p:nvPr/>
        </p:nvSpPr>
        <p:spPr>
          <a:xfrm>
            <a:off x="64008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&amp; Body Pose Detection with Create ML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· 13:20 – 13:50 · 6층 오디토리움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30분 — 절반은 여러분이 만듭니다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55680" cy="1188720"/>
          </a:xfrm>
          <a:prstGeom prst="roundRect">
            <a:avLst>
              <a:gd name="adj" fmla="val 6923"/>
            </a:avLst>
          </a:prstGeom>
          <a:solidFill>
            <a:srgbClr val="F1F3F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6856"/>
            <a:ext cx="475488" cy="475488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2390973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04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3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13:20 – 13:35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11880" y="20848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 15분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11880" y="25237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손을 읽는 법 · 왜 관절인가 · 포즈와 액션 · 몸으로 확장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337560"/>
            <a:ext cx="11155680" cy="1188720"/>
          </a:xfrm>
          <a:prstGeom prst="roundRect">
            <a:avLst>
              <a:gd name="adj" fmla="val 6923"/>
            </a:avLst>
          </a:prstGeom>
          <a:solidFill>
            <a:srgbClr val="F1F3F5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694176"/>
            <a:ext cx="475488" cy="475488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57" y="3808293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37216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3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13:35 – 13:47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핸즈온 12분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11880" y="394106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Mac에서 가위바위보 데이터로 첫 모델 학습 → 카메라 검증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6923"/>
            </a:avLst>
          </a:prstGeom>
          <a:solidFill>
            <a:srgbClr val="F1F3F5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5111496"/>
            <a:ext cx="475488" cy="475488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7" y="5225613"/>
            <a:ext cx="247254" cy="2472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5138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3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13:47 – 13:50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611880" y="4919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미션 3분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3611880" y="53583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 시연 과제 발제 · 가이드 웹 튜토리얼 공유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YOUR POCKET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기술, 이미 오늘 쓰셨을 겁니다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1F3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5135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00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Watch 더블 탭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검지+엄지 두 번 — 다른 손에 커피를 든 채 전화를 받는다. '한 손이 바쁠 때'를 푼 제스처 ML.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79392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1F3F5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2377440"/>
            <a:ext cx="566928" cy="566928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495" y="25135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200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Pro 핀치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599432" y="3886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눈으로 겨누고 손끝으로 집는다. 컨트롤러를 없앤 공간 컴퓨팅의 기본 입력.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55864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1F3F5"/>
          </a:solidFill>
          <a:ln/>
        </p:spPr>
      </p:sp>
      <p:sp>
        <p:nvSpPr>
          <p:cNvPr id="16" name="Shape 12"/>
          <p:cNvSpPr/>
          <p:nvPr/>
        </p:nvSpPr>
        <p:spPr>
          <a:xfrm>
            <a:off x="8375904" y="2377440"/>
            <a:ext cx="566928" cy="566928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67" y="25135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3200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FaceTime 제스처 리액션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75904" y="3886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엄지를 들면 폭죽, 두 손 하트면 하트. 오늘 우리가 만들 것의 애플 공식 버전.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공통점: 카메라·센서가 손을 보고 → ML이 의미를 읽고 → 전부 기기 안에서 끝난다.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COMPUTER SEES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컴퓨터의 눈: 픽셀 60,000개 → 숫자 42개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F1F3F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그대로 보면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60,000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300×200 사진 한 장의 픽셀 수.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배경·조명·피부톤까지 전부 뒤섞인 숫자의 바다.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FDE7E1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Vision이 관절만 남기면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629400" y="38862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관절 21개 × (x, y) 좌표.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 모양을 결정하는 정보만 남는다 —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포즈 분류가 배우는 전부.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205436" y="4804989"/>
            <a:ext cx="492130" cy="365943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53061" y="4502140"/>
            <a:ext cx="252374" cy="302849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1636" y="4224528"/>
            <a:ext cx="151425" cy="27761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00687" y="3984772"/>
            <a:ext cx="100950" cy="23975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19004" y="3946916"/>
            <a:ext cx="378562" cy="122401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30673" y="3568355"/>
            <a:ext cx="88331" cy="37856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80198" y="3278124"/>
            <a:ext cx="50475" cy="290231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2342" y="3013131"/>
            <a:ext cx="37856" cy="264993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34472" y="3845966"/>
            <a:ext cx="63094" cy="132496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9235" y="3416930"/>
            <a:ext cx="25237" cy="42903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96616" y="3101462"/>
            <a:ext cx="12619" cy="31546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83997" y="2811231"/>
            <a:ext cx="12619" cy="290231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697566" y="3896441"/>
            <a:ext cx="239756" cy="1274491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937321" y="3492642"/>
            <a:ext cx="37856" cy="403799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975177" y="3189793"/>
            <a:ext cx="25237" cy="302849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1000415" y="2924800"/>
            <a:ext cx="25237" cy="264993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697566" y="4047866"/>
            <a:ext cx="517368" cy="112306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1214933" y="3732398"/>
            <a:ext cx="88331" cy="31546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1303264" y="3480024"/>
            <a:ext cx="50475" cy="252374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1353739" y="3252887"/>
            <a:ext cx="37856" cy="227137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28986" y="5102352"/>
            <a:ext cx="137160" cy="13716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5144" y="4754697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902769" y="445184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6" name="Shape 34"/>
          <p:cNvSpPr/>
          <p:nvPr/>
        </p:nvSpPr>
        <p:spPr>
          <a:xfrm>
            <a:off x="9751344" y="417423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7" name="Shape 35"/>
          <p:cNvSpPr/>
          <p:nvPr/>
        </p:nvSpPr>
        <p:spPr>
          <a:xfrm>
            <a:off x="9650395" y="393448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68712" y="3896624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80381" y="3518063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29906" y="322783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92050" y="2962839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84180" y="3795674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558943" y="336663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546324" y="305117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5" name="Shape 43"/>
          <p:cNvSpPr/>
          <p:nvPr/>
        </p:nvSpPr>
        <p:spPr>
          <a:xfrm>
            <a:off x="10533705" y="2760939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6" name="Shape 44"/>
          <p:cNvSpPr/>
          <p:nvPr/>
        </p:nvSpPr>
        <p:spPr>
          <a:xfrm>
            <a:off x="10887029" y="3846149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24885" y="344235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50123" y="3139501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75360" y="287450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50" name="Shape 48"/>
          <p:cNvSpPr/>
          <p:nvPr/>
        </p:nvSpPr>
        <p:spPr>
          <a:xfrm>
            <a:off x="11164641" y="3997574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51" name="Shape 49"/>
          <p:cNvSpPr/>
          <p:nvPr/>
        </p:nvSpPr>
        <p:spPr>
          <a:xfrm>
            <a:off x="11252972" y="368210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52" name="Shape 50"/>
          <p:cNvSpPr/>
          <p:nvPr/>
        </p:nvSpPr>
        <p:spPr>
          <a:xfrm>
            <a:off x="11303447" y="342973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53" name="Shape 51"/>
          <p:cNvSpPr/>
          <p:nvPr/>
        </p:nvSpPr>
        <p:spPr>
          <a:xfrm>
            <a:off x="11341303" y="3202595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55" name="Text 5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구조는 네 칸이면 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2542032" cy="2651760"/>
          </a:xfrm>
          <a:prstGeom prst="roundRect">
            <a:avLst>
              <a:gd name="adj" fmla="val 3597"/>
            </a:avLst>
          </a:prstGeom>
          <a:solidFill>
            <a:srgbClr val="F1F3F5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2697480"/>
            <a:ext cx="512064" cy="512064"/>
          </a:xfrm>
          <a:prstGeom prst="ellipse">
            <a:avLst/>
          </a:prstGeom>
          <a:solidFill>
            <a:srgbClr val="14171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28203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프레임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8952" y="384048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AVFoundation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044952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19272" y="2377440"/>
            <a:ext cx="2542032" cy="2651760"/>
          </a:xfrm>
          <a:prstGeom prst="roundRect">
            <a:avLst>
              <a:gd name="adj" fmla="val 3597"/>
            </a:avLst>
          </a:prstGeom>
          <a:solidFill>
            <a:srgbClr val="F1F3F5"/>
          </a:solidFill>
          <a:ln/>
        </p:spPr>
      </p:sp>
      <p:sp>
        <p:nvSpPr>
          <p:cNvPr id="12" name="Shape 9"/>
          <p:cNvSpPr/>
          <p:nvPr/>
        </p:nvSpPr>
        <p:spPr>
          <a:xfrm>
            <a:off x="3575304" y="2697480"/>
            <a:ext cx="512064" cy="512064"/>
          </a:xfrm>
          <a:prstGeom prst="ellipse">
            <a:avLst/>
          </a:prstGeom>
          <a:solidFill>
            <a:srgbClr val="14171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199" y="282037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관절 추출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575304" y="384048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· 21 keypoints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(iOS 내장, 학습 불필요)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861304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135624" y="2377440"/>
            <a:ext cx="2542032" cy="2651760"/>
          </a:xfrm>
          <a:prstGeom prst="roundRect">
            <a:avLst>
              <a:gd name="adj" fmla="val 3597"/>
            </a:avLst>
          </a:prstGeom>
          <a:solidFill>
            <a:srgbClr val="FDE7E1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91656" y="269748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551" y="28203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1656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 분류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391656" y="384048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ML로 만든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.mlmodel (오늘의 주인공)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677656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8951976" y="2377440"/>
            <a:ext cx="2542032" cy="2651760"/>
          </a:xfrm>
          <a:prstGeom prst="roundRect">
            <a:avLst>
              <a:gd name="adj" fmla="val 3597"/>
            </a:avLst>
          </a:prstGeom>
          <a:solidFill>
            <a:srgbClr val="F1F3F5"/>
          </a:solidFill>
          <a:ln/>
        </p:spPr>
      </p:sp>
      <p:sp>
        <p:nvSpPr>
          <p:cNvPr id="24" name="Shape 19"/>
          <p:cNvSpPr/>
          <p:nvPr/>
        </p:nvSpPr>
        <p:spPr>
          <a:xfrm>
            <a:off x="9208008" y="2697480"/>
            <a:ext cx="512064" cy="512064"/>
          </a:xfrm>
          <a:prstGeom prst="ellipse">
            <a:avLst/>
          </a:prstGeom>
          <a:solidFill>
            <a:srgbClr val="14171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903" y="282037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08008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반응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208008" y="384048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· 사운드 · 게임 로직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(여러분의 바이브 코딩)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1·2·4번 칸은 이미 있거나 여러분이 늘 하던 것 — 오늘 새로 배우는 건 3번 칸 하나뿐입니다.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KEYPOINTS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지하철 노선도의 원리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위성사진으로 서울을 외우는 사람은 없습니다. 역과 노선만 남긴 지도를 보죠.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Vision의 관절 추출이 손에게 하는 일이 정확히 그것입니다.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493776" cy="493776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34" y="2815986"/>
            <a:ext cx="256764" cy="256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670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배경과 무관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206240" y="2642616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초록 스튜디오에서 학습한 모델이 오디토리움 무대에서 그대로 동작 — 좌표는 배경을 모른다.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867912"/>
            <a:ext cx="493776" cy="493776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4" y="3986418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확 준다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206240" y="381304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분류라면 수천 장이 필요할 문제가 클래스당 수십~수백 장으로 — 오늘 오후에 직접 찍을 수 있는 양.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5038344"/>
            <a:ext cx="493776" cy="493776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" y="5156850"/>
            <a:ext cx="256764" cy="2567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5010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온디바이스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206240" y="4983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영상이 기기를 떠나지 않는다. 프라이버시는 기본값, 와이파이 없는 시연장도 문제없음.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배경이 바뀌면 무슨 일이 일어날까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83080"/>
          <a:ext cx="10881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수치입니다 — 방향이 핵심: 학습 때 못 본 배경에서 픽셀 학습은 무너지고, 관절 학습은 흔들리지 않습니다.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사진은 포즈, 영상은 액션 — 템플릿은 이 구분이 전부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DE7E1"/>
          </a:solidFill>
          <a:ln w="15875">
            <a:solidFill>
              <a:srgbClr val="F051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75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Pose Classification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0" y="2221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0" y="22219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정지된 손 모양 — 가위바위보 · 하트 · 수어 숫자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1F3F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Action Classification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0" y="32552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32552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시간이 흐르는 손 동작 — 흔들기 · 원 그리기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32504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1F3F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42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Classification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4507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0" y="42885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0" y="42885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전신 동작 — 점핑잭 · 스쿼트 · 안무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065776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1F3F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75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카운팅 (Create ML Components)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22960" y="5541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0" y="5321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불필요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53218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주기적 동작의 횟수 — 사전학습, 코드 몇 줄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원리가 몸 19개 관절로 — 그리고 공짜 한 가지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 flipV="1">
            <a:off x="1906707" y="2343424"/>
            <a:ext cx="141549" cy="9436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8256" y="2343424"/>
            <a:ext cx="157277" cy="9436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205533" y="2343424"/>
            <a:ext cx="157277" cy="9436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62810" y="2343424"/>
            <a:ext cx="141549" cy="9436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05533" y="2437790"/>
            <a:ext cx="0" cy="408920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733702" y="2846710"/>
            <a:ext cx="471830" cy="157277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05533" y="2846710"/>
            <a:ext cx="471830" cy="157277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529243" y="3003987"/>
            <a:ext cx="204460" cy="629107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434876" y="3633094"/>
            <a:ext cx="94366" cy="59765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7363" y="3003987"/>
            <a:ext cx="204460" cy="629107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1823" y="3633094"/>
            <a:ext cx="94366" cy="59765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05533" y="2846710"/>
            <a:ext cx="0" cy="1195304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2435" y="4042014"/>
            <a:ext cx="283098" cy="0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05533" y="4042014"/>
            <a:ext cx="283098" cy="0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859524" y="4042014"/>
            <a:ext cx="62911" cy="723473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828068" y="4765487"/>
            <a:ext cx="31455" cy="69201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8631" y="4042014"/>
            <a:ext cx="62911" cy="723473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1542" y="4765487"/>
            <a:ext cx="31455" cy="69201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59813" y="2392070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4" name="Shape 22"/>
          <p:cNvSpPr/>
          <p:nvPr/>
        </p:nvSpPr>
        <p:spPr>
          <a:xfrm>
            <a:off x="2002536" y="2297704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5" name="Shape 23"/>
          <p:cNvSpPr/>
          <p:nvPr/>
        </p:nvSpPr>
        <p:spPr>
          <a:xfrm>
            <a:off x="2317090" y="2297704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Shape 24"/>
          <p:cNvSpPr/>
          <p:nvPr/>
        </p:nvSpPr>
        <p:spPr>
          <a:xfrm>
            <a:off x="1860987" y="2392070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7" name="Shape 25"/>
          <p:cNvSpPr/>
          <p:nvPr/>
        </p:nvSpPr>
        <p:spPr>
          <a:xfrm>
            <a:off x="2458639" y="2392070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8" name="Shape 26"/>
          <p:cNvSpPr/>
          <p:nvPr/>
        </p:nvSpPr>
        <p:spPr>
          <a:xfrm>
            <a:off x="2159813" y="2800990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9" name="Shape 27"/>
          <p:cNvSpPr/>
          <p:nvPr/>
        </p:nvSpPr>
        <p:spPr>
          <a:xfrm>
            <a:off x="1687982" y="2958267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0" name="Shape 28"/>
          <p:cNvSpPr/>
          <p:nvPr/>
        </p:nvSpPr>
        <p:spPr>
          <a:xfrm>
            <a:off x="2631643" y="2958267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1" name="Shape 29"/>
          <p:cNvSpPr/>
          <p:nvPr/>
        </p:nvSpPr>
        <p:spPr>
          <a:xfrm>
            <a:off x="1483523" y="3587374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6103" y="3587374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89156" y="4185026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0469" y="4185026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5" name="Shape 33"/>
          <p:cNvSpPr/>
          <p:nvPr/>
        </p:nvSpPr>
        <p:spPr>
          <a:xfrm>
            <a:off x="2159813" y="3996294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6" name="Shape 34"/>
          <p:cNvSpPr/>
          <p:nvPr/>
        </p:nvSpPr>
        <p:spPr>
          <a:xfrm>
            <a:off x="1876715" y="3996294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7" name="Shape 35"/>
          <p:cNvSpPr/>
          <p:nvPr/>
        </p:nvSpPr>
        <p:spPr>
          <a:xfrm>
            <a:off x="2442911" y="3996294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8" name="Shape 36"/>
          <p:cNvSpPr/>
          <p:nvPr/>
        </p:nvSpPr>
        <p:spPr>
          <a:xfrm>
            <a:off x="1813804" y="4719767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9" name="Shape 37"/>
          <p:cNvSpPr/>
          <p:nvPr/>
        </p:nvSpPr>
        <p:spPr>
          <a:xfrm>
            <a:off x="2505822" y="4719767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2348" y="5411785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1" name="Shape 39"/>
          <p:cNvSpPr/>
          <p:nvPr/>
        </p:nvSpPr>
        <p:spPr>
          <a:xfrm>
            <a:off x="2537277" y="5411785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989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keypoints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103120"/>
            <a:ext cx="6903720" cy="1691640"/>
          </a:xfrm>
          <a:prstGeom prst="roundRect">
            <a:avLst>
              <a:gd name="adj" fmla="val 5405"/>
            </a:avLst>
          </a:prstGeom>
          <a:solidFill>
            <a:srgbClr val="F1F3F5"/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0" y="2331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Classification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20640" y="27432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클립으로 학습하는 전신 동작 분류 — 점핑잭·스쿼트·품새·안무. 프레임 창(예: 2초)을 훑으며 판단합니다.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754880" y="4023360"/>
            <a:ext cx="6903720" cy="1828800"/>
          </a:xfrm>
          <a:prstGeom prst="roundRect">
            <a:avLst>
              <a:gd name="adj" fmla="val 5000"/>
            </a:avLst>
          </a:prstGeom>
          <a:solidFill>
            <a:srgbClr val="FDE7E1"/>
          </a:solidFill>
          <a:ln w="15875">
            <a:solidFill>
              <a:srgbClr val="F051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4251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0장 </a:t>
            </a:r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스쿼트 카운터에 필요한 학습 데이터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5120640" y="48006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2022년부터 반복 카운팅이 사전학습돼 내장 — 어떤 동작이든 주기만 있으면 셉니다. 애플 샘플 코드를 거의 그대로 빌드하면 끝.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생각보다 조금 필요합니다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80+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 포즈 프로토타입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클래스당 이미지 (시작점)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3639312" y="3383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WWDC21 애플 데모의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클래스당 이미지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27064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6501384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50+</a:t>
            </a:r>
            <a:endParaRPr lang="en-US" sz="4300" dirty="0"/>
          </a:p>
        </p:txBody>
      </p:sp>
      <p:sp>
        <p:nvSpPr>
          <p:cNvPr id="13" name="Text 11"/>
          <p:cNvSpPr/>
          <p:nvPr/>
        </p:nvSpPr>
        <p:spPr>
          <a:xfrm>
            <a:off x="6501384" y="3383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 액션 분류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클래스당 영상 권장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9136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9363456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300" dirty="0"/>
          </a:p>
        </p:txBody>
      </p:sp>
      <p:sp>
        <p:nvSpPr>
          <p:cNvPr id="16" name="Text 14"/>
          <p:cNvSpPr/>
          <p:nvPr/>
        </p:nvSpPr>
        <p:spPr>
          <a:xfrm>
            <a:off x="9363456" y="3383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카운팅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(사전학습 내장)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892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꼭 넣어야 할 한 가지: background 클래스 — '그 외 아무 손'. 이게 없으면 모델은 모든 손을 아는 클래스로 우깁니다.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케글 폴더가 모델이 되기까지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8716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5237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가위바위보 데이터 2,188장 폴더를 Create ML에 드래그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3872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575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Pose Classification 템플릿 → Train (몇 분)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548640" cy="5486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902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6268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탭 + 연속성 카메라 — 무대 위에서 즉석 인식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보실 것: 초록 배경으로 학습 → 이 무대에서 인식. '관절은 배경을 모른다'의 실증.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12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 여러분 차례입니다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20252D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28291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+ Xcode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 → Open Developer Tool → Create ML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237744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20252D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2697480"/>
            <a:ext cx="548640" cy="548640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554" y="28291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zip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5488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가위바위보 2,188장 — 에어드롭으로 지금 공유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237744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20252D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314" y="28291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(선택) iPhone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4964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연속성 카메라로 Preview가 훨씬 재밌어집니다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349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따라만 오세요 — 12분 뒤 여러분의 카메라가 가위바위보를 읽습니다.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STEP 1–2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0–4분: 프로젝트 만들고, 폴더 드래그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1F3F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New Document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ML → New Document →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Pose Classification 템플릿 선택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Training Data에 폴더 드래그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폴더 이름이 곧 정답 라벨이 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4171C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240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HandPoseData/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rock/      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8B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726장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paper/     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8B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710장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scissors/  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8B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752장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background/ 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 외 아무 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48920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DE7E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50749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= 모델이 "모르겠다"라고 말할 수 있게 하는 정답지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STEP 3–4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4–12분: Train, 그리고 카메라로 검증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1F3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575" y="23631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Train (약 5분)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기다리는 동안 일어나는 일: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사진 → 관절 21개 좌표로 변환 → 좌표만 학습.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 시간에 오늘 원리 요약 + 질문 받기)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9202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DE7E1"/>
          </a:solidFill>
          <a:ln w="15875">
            <a:solidFill>
              <a:srgbClr val="F0513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24028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36317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286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Preview 탭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75120" y="28803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앞에서 가위·바위·보.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확인할 것: 초록 배경 데이터로 학습했는데 왜 여기서도 되는가 —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원리를 눈으로 확인하는 순간.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안 될 때 — 4가지면 대부분 해결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57200" cy="457200"/>
          </a:xfrm>
          <a:prstGeom prst="ellipse">
            <a:avLst/>
          </a:prstGeom>
          <a:solidFill>
            <a:srgbClr val="1417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2938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Preview가 반응 없음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394960" y="1929384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손을 화면의 1/4 이상 크기로, 더 가까이. 역광이면 방향 전환.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2990088"/>
            <a:ext cx="457200" cy="457200"/>
          </a:xfrm>
          <a:prstGeom prst="ellipse">
            <a:avLst/>
          </a:prstGeom>
          <a:solidFill>
            <a:srgbClr val="14171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9981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95351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라벨이 심하게 떨림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394960" y="2953512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정상입니다 — 앱에서는 확신도 임계값 + 최근 프레임 다수결로 잡습니다.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401421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12394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9776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 손이나 가위바위보로 인식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5394960" y="3977640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클래스가 없어서 — 모델에게 '그 외'라는 선택지를 준 적이 없기 때문.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66928" y="5038344"/>
            <a:ext cx="457200" cy="457200"/>
          </a:xfrm>
          <a:prstGeom prst="ellipse">
            <a:avLst/>
          </a:prstGeom>
          <a:solidFill>
            <a:srgbClr val="14171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14807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50017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학습이 너무 느림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5394960" y="500176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앱 종료 + 전원 연결. 그래도 느리면 클래스당 200장으로 줄여도 충분.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YOUR APP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모델에서 앱까지 — 핵심은 20줄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949440" cy="4069080"/>
          </a:xfrm>
          <a:prstGeom prst="roundRect">
            <a:avLst>
              <a:gd name="adj" fmla="val 1798"/>
            </a:avLst>
          </a:prstGeom>
          <a:solidFill>
            <a:srgbClr val="14171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309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handler =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VNImageRequestHandler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(cvPixelBuffer: frame)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handler.perform([request])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let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 = request.results?.first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관절 21개 좌표 → 내가 만든 모델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keypoints =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hand.keypointsMultiArray()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model.prediction(poses: keypoints)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확신 없으면 침묵 — 임계값 + 다수결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8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confidence &gt;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9EC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smoother.add(result.label) 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26680" y="1874520"/>
            <a:ext cx="3977640" cy="4069080"/>
          </a:xfrm>
          <a:prstGeom prst="roundRect">
            <a:avLst>
              <a:gd name="adj" fmla="val 2299"/>
            </a:avLst>
          </a:prstGeom>
          <a:solidFill>
            <a:srgbClr val="F1F3F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2148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품질의 비결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0" y="265176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 0.85 미만은 무시하고, 최근 10프레임의 다수결만 채택 —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두 줄이 없으면 라이브 화면에서 라벨이 심하게 떨립니다.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구조는 애플 샘플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"Detecting Hand Poses with Vision"이 최고의 출발점.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주까지: 손 또는 몸으로 조작하는 앱 하나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1F3F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245461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묵찌빠 배틀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모델 그대로 + 게임 로직만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최단 경로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64992" y="201168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1F3F5"/>
          </a:solidFill>
          <a:ln/>
        </p:spPr>
      </p:sp>
      <p:sp>
        <p:nvSpPr>
          <p:cNvPr id="12" name="Shape 9"/>
          <p:cNvSpPr/>
          <p:nvPr/>
        </p:nvSpPr>
        <p:spPr>
          <a:xfrm>
            <a:off x="3639312" y="233172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207" y="245461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이모지 리액션 캠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39312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HaGRID 데이터 4~6클래스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639312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임팩트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27064" y="201168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1F3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501384" y="233172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279" y="245461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01384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수어 숫자 통역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01384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케글 수어 숫자 데이터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501384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접근성 서사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89136" y="201168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1F3F5"/>
          </a:solidFill>
          <a:ln/>
        </p:spPr>
      </p:sp>
      <p:sp>
        <p:nvSpPr>
          <p:cNvPr id="24" name="Shape 19"/>
          <p:cNvSpPr/>
          <p:nvPr/>
        </p:nvSpPr>
        <p:spPr>
          <a:xfrm>
            <a:off x="9363456" y="233172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351" y="245461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63456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스쿼트 카운터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63456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샘플 · 데이터 0장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9363456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3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몸으로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02920" y="53492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Create ML로 15분 — 나머지는 여러분의 바이브 코딩. 다음 미팅 팀 공유 시간에 시연합니다.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링크·심화 자료는 가이드 웹 튜토리얼에 전부 있습니다 (QR 공유).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11506" y="4755612"/>
            <a:ext cx="527792" cy="392460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0844" y="4430817"/>
            <a:ext cx="270662" cy="324795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8446" y="4133088"/>
            <a:ext cx="162397" cy="297729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70181" y="3875959"/>
            <a:ext cx="108265" cy="257129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33304" y="3835359"/>
            <a:ext cx="405994" cy="1312713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8572" y="3429366"/>
            <a:ext cx="94732" cy="405994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4440" y="3118104"/>
            <a:ext cx="54132" cy="31126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3840" y="2833908"/>
            <a:ext cx="40599" cy="28419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71632" y="3727094"/>
            <a:ext cx="67666" cy="142097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566" y="3266968"/>
            <a:ext cx="27066" cy="46012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1033" y="2928640"/>
            <a:ext cx="13533" cy="33832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17500" y="2617379"/>
            <a:ext cx="13533" cy="31126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839298" y="3781227"/>
            <a:ext cx="257129" cy="1366845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1096427" y="3348167"/>
            <a:ext cx="40599" cy="433060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1137026" y="3023372"/>
            <a:ext cx="27066" cy="324795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1164092" y="2739177"/>
            <a:ext cx="27066" cy="28419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839298" y="3943624"/>
            <a:ext cx="554858" cy="120444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1394156" y="3605296"/>
            <a:ext cx="94732" cy="338328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1488887" y="3334634"/>
            <a:ext cx="54132" cy="270662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543020" y="3091038"/>
            <a:ext cx="40599" cy="243596"/>
          </a:xfrm>
          <a:prstGeom prst="line">
            <a:avLst/>
          </a:prstGeom>
          <a:noFill/>
          <a:ln w="27940">
            <a:solidFill>
              <a:srgbClr val="8B94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70718" y="5079492"/>
            <a:ext cx="137160" cy="13716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61214" y="470532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4" name="Shape 22"/>
          <p:cNvSpPr/>
          <p:nvPr/>
        </p:nvSpPr>
        <p:spPr>
          <a:xfrm>
            <a:off x="9990552" y="4380525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5" name="Shape 23"/>
          <p:cNvSpPr/>
          <p:nvPr/>
        </p:nvSpPr>
        <p:spPr>
          <a:xfrm>
            <a:off x="9828154" y="408279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Shape 24"/>
          <p:cNvSpPr/>
          <p:nvPr/>
        </p:nvSpPr>
        <p:spPr>
          <a:xfrm>
            <a:off x="9719889" y="3825667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83012" y="3785067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88280" y="3379074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34148" y="306781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93548" y="278361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21340" y="367680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94274" y="321667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80741" y="2878348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67208" y="2567087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46135" y="3730935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086734" y="3297875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7" name="Shape 35"/>
          <p:cNvSpPr/>
          <p:nvPr/>
        </p:nvSpPr>
        <p:spPr>
          <a:xfrm>
            <a:off x="11113800" y="297308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40867" y="2688885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39" name="Shape 37"/>
          <p:cNvSpPr/>
          <p:nvPr/>
        </p:nvSpPr>
        <p:spPr>
          <a:xfrm>
            <a:off x="11343864" y="389333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0" name="Shape 38"/>
          <p:cNvSpPr/>
          <p:nvPr/>
        </p:nvSpPr>
        <p:spPr>
          <a:xfrm>
            <a:off x="11438595" y="3555004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1" name="Shape 39"/>
          <p:cNvSpPr/>
          <p:nvPr/>
        </p:nvSpPr>
        <p:spPr>
          <a:xfrm>
            <a:off x="11492728" y="3284342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2" name="Shape 40"/>
          <p:cNvSpPr/>
          <p:nvPr/>
        </p:nvSpPr>
        <p:spPr>
          <a:xfrm>
            <a:off x="11533327" y="3040746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" y="566928"/>
            <a:ext cx="91440" cy="9144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57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E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THREE THINGS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14173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1600200" y="14356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픽셀이 아니라 관절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600200" y="192938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→ 42. 배경 무관, 적은 데이터.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40080" y="27889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000" dirty="0"/>
          </a:p>
        </p:txBody>
      </p:sp>
      <p:sp>
        <p:nvSpPr>
          <p:cNvPr id="49" name="Text 47"/>
          <p:cNvSpPr/>
          <p:nvPr/>
        </p:nvSpPr>
        <p:spPr>
          <a:xfrm>
            <a:off x="1600200" y="28072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사진은 포즈, 영상은 액션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600200" y="330098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구분이 템플릿 선택의 전부.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40080" y="41605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000" dirty="0"/>
          </a:p>
        </p:txBody>
      </p:sp>
      <p:sp>
        <p:nvSpPr>
          <p:cNvPr id="52" name="Text 50"/>
          <p:cNvSpPr/>
          <p:nvPr/>
        </p:nvSpPr>
        <p:spPr>
          <a:xfrm>
            <a:off x="1600200" y="41788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온디바이스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1600200" y="467258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영상은 기기를 떠나지 않는다 — 신뢰가 기본값.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64008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 웹 튜토리얼 — 오늘 내용 전체 + 웹캠 체험 데모 + 데이터셋 지도 (링크 공유)</a:t>
            </a:r>
            <a:endParaRPr lang="en-US" sz="1350" dirty="0"/>
          </a:p>
        </p:txBody>
      </p:sp>
      <p:sp>
        <p:nvSpPr>
          <p:cNvPr id="56" name="Text 5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CreateML 스터디 · 3주차 · Hand &amp; Body Pose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2026-07-21T07:25:17Z</dcterms:created>
  <dcterms:modified xsi:type="dcterms:W3CDTF">2026-07-21T07:25:17Z</dcterms:modified>
</cp:coreProperties>
</file>